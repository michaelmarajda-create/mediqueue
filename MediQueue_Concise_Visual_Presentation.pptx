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B2274"/>
    <a:srgbClr val="FFFF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69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2243C"/>
                </a:solidFill>
                <a:latin typeface="Aptos"/>
              </a:defRPr>
            </a:pPr>
            <a:r>
              <a:t>MediQueue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97E91"/>
                </a:solidFill>
                <a:latin typeface="Aptos"/>
              </a:defRPr>
            </a:pPr>
            <a:r>
              <a:t>Smart Doctor Appointments &amp; Scheduling  |  Django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97E91"/>
                </a:solidFill>
                <a:latin typeface="Aptos"/>
              </a:defRPr>
            </a:pPr>
            <a:r>
              <a:t>MEDIQUEUE  •  AXSOS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648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97E9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19072"/>
            <a:ext cx="6720840" cy="4050791"/>
          </a:xfrm>
          <a:prstGeom prst="roundRect">
            <a:avLst/>
          </a:prstGeom>
          <a:solidFill>
            <a:srgbClr val="12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6126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Find a doctor.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Book a time.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Manage your visit.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093208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B8DEE4"/>
                </a:solidFill>
                <a:latin typeface="Aptos"/>
              </a:defRPr>
            </a:pPr>
            <a:r>
              <a:t>One simple platform for patients, doctors and clinics.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965960"/>
            <a:ext cx="3977639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589520" y="1965960"/>
            <a:ext cx="3977639" cy="420624"/>
          </a:xfrm>
          <a:prstGeom prst="roundRect">
            <a:avLst/>
          </a:prstGeom>
          <a:solidFill>
            <a:srgbClr val="12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35824" y="20574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●   ●   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039112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MediQueue  /  Find a Doctor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697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2243C"/>
                </a:solidFill>
                <a:latin typeface="Aptos"/>
              </a:defRPr>
            </a:pPr>
            <a:r>
              <a:t>Specialty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45552" y="3136392"/>
            <a:ext cx="3383280" cy="475488"/>
          </a:xfrm>
          <a:prstGeom prst="round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28431" y="3246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263A4E"/>
                </a:solidFill>
                <a:latin typeface="Aptos"/>
              </a:defRPr>
            </a:pPr>
            <a:r>
              <a:rPr dirty="0"/>
              <a:t>Orthopedics   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82219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2243C"/>
                </a:solidFill>
                <a:latin typeface="Aptos"/>
              </a:defRPr>
            </a:pPr>
            <a:r>
              <a:rPr dirty="0"/>
              <a:t>Available today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82127" y="4416552"/>
            <a:ext cx="3200400" cy="402336"/>
          </a:xfrm>
          <a:prstGeom prst="round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82127" y="44714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View doctors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2243C"/>
                </a:solidFill>
                <a:latin typeface="Aptos"/>
              </a:defRPr>
            </a:pPr>
            <a:r>
              <a:t>The problem →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97E91"/>
                </a:solidFill>
                <a:latin typeface="Aptos"/>
              </a:defRPr>
            </a:pPr>
            <a:r>
              <a:t>A practical clinic scheduling problem, without accessing hospital medical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97E91"/>
                </a:solidFill>
                <a:latin typeface="Aptos"/>
              </a:defRPr>
            </a:pPr>
            <a:r>
              <a:t>MEDIQUEUE  •  AXSOS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648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97E9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16636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73152" cy="3520440"/>
          </a:xfrm>
          <a:prstGeom prst="rect">
            <a:avLst/>
          </a:prstGeom>
          <a:solidFill>
            <a:srgbClr val="E26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2243C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96312"/>
            <a:ext cx="4690872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• Patients call to ask which doctors are available</a:t>
            </a:r>
          </a:p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• Staff coordinate appointments manually</a:t>
            </a:r>
          </a:p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• Rescheduling requires another phone 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91640"/>
            <a:ext cx="516636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73152" cy="3520440"/>
          </a:xfrm>
          <a:prstGeom prst="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8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2243C"/>
                </a:solidFill>
                <a:latin typeface="Aptos"/>
              </a:defRPr>
            </a:pPr>
            <a:r>
              <a:t>MediQueue solves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496312"/>
            <a:ext cx="4690872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• Browse doctors by specialty</a:t>
            </a:r>
          </a:p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• Book available time slots online</a:t>
            </a:r>
          </a:p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• Doctors reschedule follow-up visits from their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14416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600" b="1">
                <a:solidFill>
                  <a:srgbClr val="12243C"/>
                </a:solidFill>
                <a:latin typeface="Aptos"/>
              </a:defRPr>
            </a:pPr>
            <a:r>
              <a:t>MediQueue manages appointments — not diagnoses, patient medical records, or hospital databases.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2243C"/>
                </a:solidFill>
                <a:latin typeface="Aptos"/>
              </a:defRPr>
            </a:pPr>
            <a:r>
              <a:t>How the system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97E91"/>
                </a:solidFill>
                <a:latin typeface="Aptos"/>
              </a:defRPr>
            </a:pPr>
            <a:r>
              <a:t>A simple booking journey from patient to doctor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97E91"/>
                </a:solidFill>
                <a:latin typeface="Aptos"/>
              </a:defRPr>
            </a:pPr>
            <a:r>
              <a:t>MEDIQUEUE  •  AXSOS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648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97E9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47088"/>
            <a:ext cx="269748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58952" y="2057400"/>
            <a:ext cx="594360" cy="594360"/>
          </a:xfrm>
          <a:prstGeom prst="roundRect">
            <a:avLst/>
          </a:prstGeom>
          <a:solidFill>
            <a:srgbClr val="E1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" y="2194560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A69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871216"/>
            <a:ext cx="2359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2243C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493008"/>
            <a:ext cx="23317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Patient creates an account and selects insurance.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A69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02152" y="1847088"/>
            <a:ext cx="269748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66744" y="2057400"/>
            <a:ext cx="594360" cy="594360"/>
          </a:xfrm>
          <a:prstGeom prst="roundRect">
            <a:avLst/>
          </a:prstGeom>
          <a:solidFill>
            <a:srgbClr val="E1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39896" y="2194560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A69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71216"/>
            <a:ext cx="2359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2243C"/>
                </a:solidFill>
                <a:latin typeface="Aptos"/>
              </a:defRPr>
            </a:pPr>
            <a:r>
              <a:t>Find a doctor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3493008"/>
            <a:ext cx="23317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Choose a specialty and view available doctors.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A69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9944" y="1847088"/>
            <a:ext cx="269748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74536" y="2057400"/>
            <a:ext cx="594360" cy="594360"/>
          </a:xfrm>
          <a:prstGeom prst="roundRect">
            <a:avLst/>
          </a:prstGeom>
          <a:solidFill>
            <a:srgbClr val="E1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47688" y="2194560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A69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2871216"/>
            <a:ext cx="2359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2243C"/>
                </a:solidFill>
                <a:latin typeface="Aptos"/>
              </a:defRPr>
            </a:pPr>
            <a:r>
              <a:t>Book a slot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536" y="3493008"/>
            <a:ext cx="23317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Reserve an open time on the doctor’s calendar.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0A69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17736" y="1847088"/>
            <a:ext cx="269748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482328" y="2057400"/>
            <a:ext cx="594360" cy="594360"/>
          </a:xfrm>
          <a:prstGeom prst="roundRect">
            <a:avLst/>
          </a:prstGeom>
          <a:solidFill>
            <a:srgbClr val="E1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55480" y="2194560"/>
            <a:ext cx="457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A69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2328" y="2871216"/>
            <a:ext cx="2359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2243C"/>
                </a:solidFill>
                <a:latin typeface="Aptos"/>
              </a:defRPr>
            </a:pPr>
            <a:r>
              <a:t>Manage visit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2328" y="3493008"/>
            <a:ext cx="233172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Patient views booking; doctor can reschedule or complete.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2243C"/>
                </a:solidFill>
                <a:latin typeface="Aptos"/>
              </a:defRPr>
            </a:pPr>
            <a:r>
              <a:t>Patient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97E91"/>
                </a:solidFill>
                <a:latin typeface="Aptos"/>
              </a:defRPr>
            </a:pPr>
            <a:r>
              <a:t>Key screens: Find a Doctor, Available Slots, Patient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97E91"/>
                </a:solidFill>
                <a:latin typeface="Aptos"/>
              </a:defRPr>
            </a:pPr>
            <a:r>
              <a:t>MEDIQUEUE  •  AXSOS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648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97E9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291840" cy="39776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291840" cy="420624"/>
          </a:xfrm>
          <a:prstGeom prst="roundRect">
            <a:avLst/>
          </a:prstGeom>
          <a:solidFill>
            <a:srgbClr val="12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28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●   ●   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105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Find a Doctor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737360"/>
            <a:ext cx="3291840" cy="39776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53128" y="1737360"/>
            <a:ext cx="3291840" cy="420624"/>
          </a:xfrm>
          <a:prstGeom prst="roundRect">
            <a:avLst/>
          </a:prstGeom>
          <a:solidFill>
            <a:srgbClr val="12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1828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●   ●   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18105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Available Slots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57616" y="1737360"/>
            <a:ext cx="3291840" cy="39776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357616" y="1737360"/>
            <a:ext cx="3291840" cy="420624"/>
          </a:xfrm>
          <a:prstGeom prst="roundRect">
            <a:avLst/>
          </a:prstGeom>
          <a:solidFill>
            <a:srgbClr val="12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182880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●   ●   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2016" y="18105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My Appointments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423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2243C"/>
                </a:solidFill>
                <a:latin typeface="Aptos"/>
              </a:defRPr>
            </a:pPr>
            <a:r>
              <a:t>Choose specialty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" y="2862072"/>
            <a:ext cx="2724912" cy="502920"/>
          </a:xfrm>
          <a:prstGeom prst="round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29809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263A4E"/>
                </a:solidFill>
                <a:latin typeface="Aptos"/>
              </a:defRPr>
            </a:pPr>
            <a:r>
              <a:t>Orthopedics  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" y="3694176"/>
            <a:ext cx="2724912" cy="786384"/>
          </a:xfrm>
          <a:prstGeom prst="roundRect">
            <a:avLst/>
          </a:prstGeom>
          <a:solidFill>
            <a:srgbClr val="E1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" y="391363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2243C"/>
                </a:solidFill>
                <a:latin typeface="Aptos"/>
              </a:defRPr>
            </a:pPr>
            <a:r>
              <a:t>Dr. Sarah  •  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" y="4846320"/>
            <a:ext cx="2377440" cy="402336"/>
          </a:xfrm>
          <a:prstGeom prst="round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0976" y="4901183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rPr dirty="0"/>
              <a:t>See availability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24688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2243C"/>
                </a:solidFill>
                <a:latin typeface="Aptos"/>
              </a:defRPr>
            </a:pPr>
            <a:r>
              <a:t>Dr. Sarah  |  Today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81728" y="2907792"/>
            <a:ext cx="2715768" cy="475488"/>
          </a:xfrm>
          <a:prstGeom prst="roundRect">
            <a:avLst/>
          </a:prstGeom>
          <a:solidFill>
            <a:srgbClr val="E1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64608" y="30083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2243C"/>
                </a:solidFill>
                <a:latin typeface="Aptos"/>
              </a:defRPr>
            </a:pPr>
            <a:r>
              <a:t>09:00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81728" y="3511296"/>
            <a:ext cx="2715768" cy="475488"/>
          </a:xfrm>
          <a:prstGeom prst="roundRect">
            <a:avLst/>
          </a:prstGeom>
          <a:solidFill>
            <a:srgbClr val="E1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64608" y="30083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2243C"/>
                </a:solidFill>
                <a:latin typeface="Aptos"/>
              </a:defRPr>
            </a:pPr>
            <a:r>
              <a:t>10:30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81728" y="4114800"/>
            <a:ext cx="2715768" cy="475488"/>
          </a:xfrm>
          <a:prstGeom prst="roundRect">
            <a:avLst/>
          </a:prstGeom>
          <a:solidFill>
            <a:srgbClr val="E1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64608" y="30083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12243C"/>
                </a:solidFill>
                <a:latin typeface="Aptos"/>
              </a:defRPr>
            </a:pPr>
            <a:r>
              <a:rPr dirty="0"/>
              <a:t>13:00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36592" y="4956048"/>
            <a:ext cx="2587752" cy="402336"/>
          </a:xfrm>
          <a:prstGeom prst="round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36592" y="5010912"/>
            <a:ext cx="2587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Book appointment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2468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2243C"/>
                </a:solidFill>
                <a:latin typeface="Aptos"/>
              </a:defRPr>
            </a:pPr>
            <a:r>
              <a:t>Upcoming visits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13648" y="2990088"/>
            <a:ext cx="2724912" cy="1307592"/>
          </a:xfrm>
          <a:prstGeom prst="roundRect">
            <a:avLst/>
          </a:prstGeom>
          <a:solidFill>
            <a:srgbClr val="DEEC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87384" y="320040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12243C"/>
                </a:solidFill>
                <a:latin typeface="Aptos"/>
              </a:defRPr>
            </a:pPr>
            <a:r>
              <a:t>Orthopedics</a:t>
            </a:r>
          </a:p>
          <a:p>
            <a:pPr>
              <a:spcAft>
                <a:spcPts val="1000"/>
              </a:spcAft>
              <a:defRPr sz="1400" b="0">
                <a:solidFill>
                  <a:srgbClr val="12243C"/>
                </a:solidFill>
                <a:latin typeface="Aptos"/>
              </a:defRPr>
            </a:pPr>
            <a:r>
              <a:t>Today · 10:30</a:t>
            </a:r>
          </a:p>
          <a:p>
            <a:pPr>
              <a:spcAft>
                <a:spcPts val="1000"/>
              </a:spcAft>
              <a:defRPr sz="1400" b="0">
                <a:solidFill>
                  <a:srgbClr val="12243C"/>
                </a:solidFill>
                <a:latin typeface="Aptos"/>
              </a:defRPr>
            </a:pPr>
            <a:r>
              <a:t>Status: Booked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32520" y="4956048"/>
            <a:ext cx="2468880" cy="402336"/>
          </a:xfrm>
          <a:prstGeom prst="round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732520" y="501091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View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2243C"/>
                </a:solidFill>
                <a:latin typeface="Aptos"/>
              </a:defRPr>
            </a:pPr>
            <a:r>
              <a:t>Doctor &amp; insurance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97E91"/>
                </a:solidFill>
                <a:latin typeface="Aptos"/>
              </a:defRPr>
            </a:pPr>
            <a:r>
              <a:t>Simple role-based access: patients see their bookings; doctors manage their own schedules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97E91"/>
                </a:solidFill>
                <a:latin typeface="Aptos"/>
              </a:defRPr>
            </a:pPr>
            <a:r>
              <a:t>MEDIQUEUE  •  AXSOS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648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97E9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5532120" cy="4069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5532120" cy="420624"/>
          </a:xfrm>
          <a:prstGeom prst="roundRect">
            <a:avLst/>
          </a:prstGeom>
          <a:solidFill>
            <a:srgbClr val="12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178308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●   ●   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764792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Doctor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2316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2243C"/>
                </a:solidFill>
                <a:latin typeface="Aptos"/>
              </a:defRPr>
            </a:pPr>
            <a:r>
              <a:t>Today’s appointments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926080"/>
            <a:ext cx="4892040" cy="585216"/>
          </a:xfrm>
          <a:prstGeom prst="round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3081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2243C"/>
                </a:solidFill>
                <a:latin typeface="Aptos"/>
              </a:defRPr>
            </a:pPr>
            <a:r>
              <a:t>Patient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081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697E91"/>
                </a:solidFill>
                <a:latin typeface="Aptos"/>
              </a:defRPr>
            </a:pPr>
            <a:r>
              <a:t>09:00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017520"/>
            <a:ext cx="1344168" cy="402336"/>
          </a:xfrm>
          <a:prstGeom prst="round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24528" y="3072384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Reschedule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621024"/>
            <a:ext cx="4892040" cy="585216"/>
          </a:xfrm>
          <a:prstGeom prst="round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" y="37764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2243C"/>
                </a:solidFill>
                <a:latin typeface="Aptos"/>
              </a:defRPr>
            </a:pPr>
            <a:r>
              <a:t>Patient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7764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697E91"/>
                </a:solidFill>
                <a:latin typeface="Aptos"/>
              </a:defRPr>
            </a:pPr>
            <a:r>
              <a:t>10:30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4528" y="3712463"/>
            <a:ext cx="1344168" cy="402336"/>
          </a:xfrm>
          <a:prstGeom prst="round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24528" y="3767327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Reschedule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" y="4315968"/>
            <a:ext cx="4892040" cy="585216"/>
          </a:xfrm>
          <a:prstGeom prst="round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69848" y="44714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2243C"/>
                </a:solidFill>
                <a:latin typeface="Aptos"/>
              </a:defRPr>
            </a:pPr>
            <a:r>
              <a:t>Patient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4714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697E91"/>
                </a:solidFill>
                <a:latin typeface="Aptos"/>
              </a:defRPr>
            </a:pPr>
            <a:r>
              <a:t>13:00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24528" y="4407408"/>
            <a:ext cx="1344168" cy="402336"/>
          </a:xfrm>
          <a:prstGeom prst="round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24528" y="4462272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Reschedule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37376" y="1691640"/>
            <a:ext cx="5084064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37376" y="1691640"/>
            <a:ext cx="73152" cy="1920240"/>
          </a:xfrm>
          <a:prstGeom prst="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84264" y="1920240"/>
            <a:ext cx="46725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2243C"/>
                </a:solidFill>
                <a:latin typeface="Aptos"/>
              </a:defRPr>
            </a:pPr>
            <a:r>
              <a:t>Insurance on profile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4264" y="2496312"/>
            <a:ext cx="46085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Patient selects an accepted insurance plan and reads general coverage notes.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37376" y="3840480"/>
            <a:ext cx="5084064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37376" y="3840480"/>
            <a:ext cx="73152" cy="1920240"/>
          </a:xfrm>
          <a:prstGeom prst="rect">
            <a:avLst/>
          </a:prstGeom>
          <a:solidFill>
            <a:srgbClr val="578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84264" y="4069080"/>
            <a:ext cx="46725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2243C"/>
                </a:solidFill>
                <a:latin typeface="Aptos"/>
              </a:defRPr>
            </a:pPr>
            <a:r>
              <a:t>Important limitation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84264" y="4645152"/>
            <a:ext cx="460857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Coverage notes are informational; real-time eligibility and claims require insurer integration.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2243C"/>
                </a:solidFill>
                <a:latin typeface="Aptos"/>
              </a:defRPr>
            </a:pPr>
            <a:r>
              <a:t>AI Assistant + AJAX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97E91"/>
                </a:solidFill>
                <a:latin typeface="Aptos"/>
              </a:defRPr>
            </a:pPr>
            <a:r>
              <a:t>Helps users find the right specialty — not medical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97E91"/>
                </a:solidFill>
                <a:latin typeface="Aptos"/>
              </a:defRPr>
            </a:pPr>
            <a:r>
              <a:t>MEDIQUEUE  •  AXSOS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648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97E9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553212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5532120" cy="420624"/>
          </a:xfrm>
          <a:prstGeom prst="roundRect">
            <a:avLst/>
          </a:prstGeom>
          <a:solidFill>
            <a:srgbClr val="12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78308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FFFFFF"/>
                </a:solidFill>
                <a:latin typeface="Aptos"/>
              </a:defRPr>
            </a:pPr>
            <a:r>
              <a:t>●   ●   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764792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AI Specialty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2243C"/>
                </a:solidFill>
                <a:latin typeface="Aptos"/>
              </a:defRPr>
            </a:pPr>
            <a:r>
              <a:t>What kind of doctor do you need?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" y="2944368"/>
            <a:ext cx="4919472" cy="713232"/>
          </a:xfrm>
          <a:prstGeom prst="roundRect">
            <a:avLst/>
          </a:prstGeom>
          <a:solidFill>
            <a:srgbClr val="F5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313639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263A4E"/>
                </a:solidFill>
                <a:latin typeface="Aptos"/>
              </a:defRPr>
            </a:pPr>
            <a:r>
              <a:t>“I have knee pain”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904487"/>
            <a:ext cx="2103120" cy="402336"/>
          </a:xfrm>
          <a:prstGeom prst="round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959351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Ask assistant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" y="4636008"/>
            <a:ext cx="4901184" cy="685800"/>
          </a:xfrm>
          <a:prstGeom prst="roundRect">
            <a:avLst/>
          </a:prstGeom>
          <a:solidFill>
            <a:srgbClr val="E1F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485546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2243C"/>
                </a:solidFill>
                <a:latin typeface="Aptos"/>
              </a:defRPr>
            </a:pPr>
            <a:r>
              <a:t>Suggested specialty: Orthopedics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0528" y="1691640"/>
            <a:ext cx="4956048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10528" y="1691640"/>
            <a:ext cx="73152" cy="4160520"/>
          </a:xfrm>
          <a:prstGeom prst="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57416" y="1920240"/>
            <a:ext cx="4544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2243C"/>
                </a:solidFill>
                <a:latin typeface="Aptos"/>
              </a:defRPr>
            </a:pPr>
            <a:r>
              <a:t>Behind the scenes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7416" y="2496312"/>
            <a:ext cx="44805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1. JavaScript fetch sends text with AJAX</a:t>
            </a:r>
          </a:p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2. Django receives the request</a:t>
            </a:r>
          </a:p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3. scikit-learn uses TF-IDF + cosine similarity</a:t>
            </a:r>
          </a:p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4. Suggested specialty appears without page reload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2243C"/>
                </a:solidFill>
                <a:latin typeface="Aptos"/>
              </a:defRPr>
            </a:pPr>
            <a:r>
              <a:t>Database ERD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697E91"/>
                </a:solidFill>
                <a:latin typeface="Aptos"/>
              </a:defRPr>
            </a:pPr>
            <a:r>
              <a:t>Core tables and relationships from the project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97E91"/>
                </a:solidFill>
                <a:latin typeface="Aptos"/>
              </a:defRPr>
            </a:pPr>
            <a:r>
              <a:t>MEDIQUEUE  •  AXSOS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648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97E9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64240" cy="4297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ediqueue_erd_sou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93392"/>
            <a:ext cx="10698480" cy="29075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12243C"/>
                </a:solidFill>
                <a:latin typeface="Aptos"/>
              </a:defRPr>
            </a:pPr>
            <a:r>
              <a:t>Technology, scope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97E91"/>
                </a:solidFill>
                <a:latin typeface="Aptos"/>
              </a:defRPr>
            </a:pPr>
            <a:r>
              <a:t>MEDIQUEUE  •  AXSOS ACADEMY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648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97E9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737360"/>
            <a:ext cx="5257800" cy="3538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737360"/>
            <a:ext cx="73152" cy="3538728"/>
          </a:xfrm>
          <a:prstGeom prst="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2243C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42032"/>
            <a:ext cx="4782312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Python · Django · SQLite</a:t>
            </a:r>
          </a:p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HTML · CSS · Bootstrap 5</a:t>
            </a:r>
          </a:p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JavaScript · AJAX · scikit-learn</a:t>
            </a:r>
          </a:p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GitHub for version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257800" cy="3538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737360"/>
            <a:ext cx="73152" cy="3538728"/>
          </a:xfrm>
          <a:prstGeom prst="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7" y="1965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12243C"/>
                </a:solidFill>
                <a:latin typeface="Aptos"/>
              </a:defRPr>
            </a:pPr>
            <a:r>
              <a:t>Implemented vs future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7" y="2542032"/>
            <a:ext cx="4782312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Current: appointment booking, doctor rescheduling, insurance notes, specialty assistant</a:t>
            </a:r>
          </a:p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endParaRPr/>
          </a:p>
          <a:p>
            <a:pPr>
              <a:spcAft>
                <a:spcPts val="1000"/>
              </a:spcAft>
              <a:defRPr sz="1500" b="0">
                <a:solidFill>
                  <a:srgbClr val="697E91"/>
                </a:solidFill>
                <a:latin typeface="Aptos"/>
              </a:defRPr>
            </a:pPr>
            <a:r>
              <a:t>Future: real insurance APIs, email alerts, live check-in queue, wait-time estimates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8E2D20-D756-CCAB-6A7F-87C4D4250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DED2BC-EB8A-A265-A9FE-0FDB1A403CF0}"/>
              </a:ext>
            </a:extLst>
          </p:cNvPr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3C4988-FE57-5512-0B39-81CF624160CC}"/>
              </a:ext>
            </a:extLst>
          </p:cNvPr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697E91"/>
                </a:solidFill>
                <a:latin typeface="Aptos"/>
              </a:defRPr>
            </a:pPr>
            <a:r>
              <a:t>MEDIQUEUE  •  AXSOS ACADEMY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860823-0704-3F1A-1AA4-E5622DCE32D3}"/>
              </a:ext>
            </a:extLst>
          </p:cNvPr>
          <p:cNvSpPr txBox="1"/>
          <p:nvPr/>
        </p:nvSpPr>
        <p:spPr>
          <a:xfrm>
            <a:off x="11292840" y="64648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697E9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C03BDC6-AA7F-8A52-EBB7-63F358B53156}"/>
              </a:ext>
            </a:extLst>
          </p:cNvPr>
          <p:cNvSpPr/>
          <p:nvPr/>
        </p:nvSpPr>
        <p:spPr>
          <a:xfrm>
            <a:off x="621791" y="1737360"/>
            <a:ext cx="11185197" cy="46085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BAE9C8-BF96-E5A8-48D5-729A4C376B4E}"/>
              </a:ext>
            </a:extLst>
          </p:cNvPr>
          <p:cNvSpPr/>
          <p:nvPr/>
        </p:nvSpPr>
        <p:spPr>
          <a:xfrm>
            <a:off x="621792" y="1737360"/>
            <a:ext cx="73152" cy="3538728"/>
          </a:xfrm>
          <a:prstGeom prst="rect">
            <a:avLst/>
          </a:prstGeom>
          <a:solidFill>
            <a:srgbClr val="00A6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AAE625-D9B5-B6E8-3DCB-2062C96BEFFD}"/>
              </a:ext>
            </a:extLst>
          </p:cNvPr>
          <p:cNvSpPr txBox="1"/>
          <p:nvPr/>
        </p:nvSpPr>
        <p:spPr>
          <a:xfrm>
            <a:off x="-1173479" y="548640"/>
            <a:ext cx="853680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700" b="1">
                <a:solidFill>
                  <a:srgbClr val="12243C"/>
                </a:solidFill>
                <a:latin typeface="Aptos"/>
              </a:defRPr>
            </a:pPr>
            <a:r>
              <a:rPr dirty="0"/>
              <a:t>Thank you  •  Questions?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06F97A-642A-9836-4891-A98BCEB3BEBD}"/>
              </a:ext>
            </a:extLst>
          </p:cNvPr>
          <p:cNvSpPr txBox="1"/>
          <p:nvPr/>
        </p:nvSpPr>
        <p:spPr>
          <a:xfrm>
            <a:off x="1234440" y="2148840"/>
            <a:ext cx="914400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chemeClr val="tx2"/>
                </a:solidFill>
              </a:rPr>
              <a:t>Special Thanks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1F9825-6D62-FB82-737A-2BD2FE3E84F5}"/>
              </a:ext>
            </a:extLst>
          </p:cNvPr>
          <p:cNvSpPr txBox="1"/>
          <p:nvPr/>
        </p:nvSpPr>
        <p:spPr>
          <a:xfrm>
            <a:off x="1261872" y="3017520"/>
            <a:ext cx="8229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7DE6DA"/>
                </a:solidFill>
                <a:latin typeface="Aptos"/>
              </a:defRPr>
            </a:pPr>
            <a:r>
              <a:rPr dirty="0">
                <a:solidFill>
                  <a:srgbClr val="7B2274"/>
                </a:solidFill>
              </a:rPr>
              <a:t>Mr. Nasri </a:t>
            </a:r>
            <a:r>
              <a:rPr dirty="0" err="1">
                <a:solidFill>
                  <a:srgbClr val="7B2274"/>
                </a:solidFill>
              </a:rPr>
              <a:t>Lad</a:t>
            </a:r>
            <a:r>
              <a:rPr lang="en-US" dirty="0" err="1">
                <a:solidFill>
                  <a:srgbClr val="7B2274"/>
                </a:solidFill>
              </a:rPr>
              <a:t>aa</a:t>
            </a:r>
            <a:r>
              <a:rPr lang="en-US" dirty="0">
                <a:solidFill>
                  <a:srgbClr val="7B2274"/>
                </a:solidFill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11389C-AC3A-6F7E-A91B-AD2DECFB05AD}"/>
              </a:ext>
            </a:extLst>
          </p:cNvPr>
          <p:cNvSpPr txBox="1"/>
          <p:nvPr/>
        </p:nvSpPr>
        <p:spPr>
          <a:xfrm>
            <a:off x="1261872" y="3622049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7DE6DA"/>
                </a:solidFill>
                <a:latin typeface="Aptos"/>
              </a:defRPr>
            </a:pPr>
            <a:r>
              <a:rPr dirty="0">
                <a:solidFill>
                  <a:srgbClr val="7B2274"/>
                </a:solidFill>
              </a:rPr>
              <a:t>Miss</a:t>
            </a:r>
            <a:r>
              <a:rPr lang="en-US" dirty="0">
                <a:solidFill>
                  <a:srgbClr val="7B2274"/>
                </a:solidFill>
              </a:rPr>
              <a:t>.</a:t>
            </a:r>
            <a:r>
              <a:rPr dirty="0">
                <a:solidFill>
                  <a:srgbClr val="7B2274"/>
                </a:solidFill>
              </a:rPr>
              <a:t> Mar</a:t>
            </a:r>
            <a:r>
              <a:rPr lang="en-US" dirty="0">
                <a:solidFill>
                  <a:srgbClr val="7B2274"/>
                </a:solidFill>
              </a:rPr>
              <a:t>y</a:t>
            </a:r>
            <a:r>
              <a:rPr dirty="0">
                <a:solidFill>
                  <a:srgbClr val="7B2274"/>
                </a:solidFill>
              </a:rPr>
              <a:t>a</a:t>
            </a:r>
            <a:r>
              <a:rPr lang="en-US" dirty="0">
                <a:solidFill>
                  <a:srgbClr val="7B2274"/>
                </a:solidFill>
              </a:rPr>
              <a:t>n</a:t>
            </a:r>
            <a:r>
              <a:rPr dirty="0">
                <a:solidFill>
                  <a:srgbClr val="7B2274"/>
                </a:solidFill>
              </a:rPr>
              <a:t> </a:t>
            </a:r>
            <a:r>
              <a:rPr lang="en-US" dirty="0" err="1">
                <a:solidFill>
                  <a:srgbClr val="7B2274"/>
                </a:solidFill>
              </a:rPr>
              <a:t>Q</a:t>
            </a:r>
            <a:r>
              <a:rPr dirty="0" err="1">
                <a:solidFill>
                  <a:srgbClr val="7B2274"/>
                </a:solidFill>
              </a:rPr>
              <a:t>assis</a:t>
            </a:r>
            <a:endParaRPr dirty="0">
              <a:solidFill>
                <a:srgbClr val="7B2274"/>
              </a:solidFill>
            </a:endParaRPr>
          </a:p>
        </p:txBody>
      </p:sp>
      <p:pic>
        <p:nvPicPr>
          <p:cNvPr id="27" name="Picture 26" descr="Axsos Academy">
            <a:extLst>
              <a:ext uri="{FF2B5EF4-FFF2-40B4-BE49-F238E27FC236}">
                <a16:creationId xmlns:a16="http://schemas.microsoft.com/office/drawing/2014/main" id="{3621AAE6-9426-64BB-0FB9-2BF2620D799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796"/>
                    </a14:imgEffect>
                    <a14:imgEffect>
                      <a14:saturation sat="10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5179" y="4257629"/>
            <a:ext cx="3129444" cy="1274491"/>
          </a:xfrm>
          <a:prstGeom prst="rect">
            <a:avLst/>
          </a:prstGeom>
          <a:effectLst/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FC04268-C080-E26E-BD53-14B43019D43A}"/>
              </a:ext>
            </a:extLst>
          </p:cNvPr>
          <p:cNvSpPr txBox="1"/>
          <p:nvPr/>
        </p:nvSpPr>
        <p:spPr>
          <a:xfrm>
            <a:off x="1234440" y="5765292"/>
            <a:ext cx="8229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rPr sz="1600" dirty="0">
                <a:solidFill>
                  <a:schemeClr val="tx2"/>
                </a:solidFill>
              </a:rPr>
              <a:t>Presented by Michael Marajda</a:t>
            </a:r>
          </a:p>
        </p:txBody>
      </p:sp>
    </p:spTree>
    <p:extLst>
      <p:ext uri="{BB962C8B-B14F-4D97-AF65-F5344CB8AC3E}">
        <p14:creationId xmlns:p14="http://schemas.microsoft.com/office/powerpoint/2010/main" val="3809018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525</Words>
  <Application>Microsoft Office PowerPoint</Application>
  <PresentationFormat>Widescreen</PresentationFormat>
  <Paragraphs>128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Marajda</cp:lastModifiedBy>
  <cp:revision>2</cp:revision>
  <dcterms:created xsi:type="dcterms:W3CDTF">2013-01-27T09:14:16Z</dcterms:created>
  <dcterms:modified xsi:type="dcterms:W3CDTF">2026-10-13T22:00:58Z</dcterms:modified>
  <cp:category/>
</cp:coreProperties>
</file>